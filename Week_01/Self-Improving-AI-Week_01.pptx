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8" r:id="rId2"/>
    <p:sldId id="259" r:id="rId3"/>
    <p:sldId id="267" r:id="rId4"/>
    <p:sldId id="268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8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6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8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95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80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47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3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8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8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13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23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70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26983-DD21-56B7-11CC-F42A24A4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3CEF1AFE-496D-DA22-8F6A-F1F234F98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19" b="1913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07D48-47CE-7C56-FA88-18A7A257B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892948" cy="3427867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Self-Improving-AI-Week_01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3DA47-AD3B-19A4-4048-2FA7AC865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970" y="5253051"/>
            <a:ext cx="4892948" cy="812923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Robot Room Search Using MDPs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44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8D0F06-61C6-9E81-D6B0-109F1F53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Robot Room Search Using Markov Decision Processes</a:t>
            </a: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86E6917E-7B13-5ADC-9DE3-741B9A97A1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65" r="11800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07013-0DE4-E863-D71C-C23C02BD0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project models a mobile robot searching rooms in a building to locate a target while minimizing expected total search cost.</a:t>
            </a:r>
            <a:br>
              <a:rPr lang="en-US" dirty="0"/>
            </a:br>
            <a:r>
              <a:rPr lang="en-US" dirty="0"/>
              <a:t>The robot does not know the target’s location and maintains a probabilistic belief over all rooms, updating this belief after each search.</a:t>
            </a:r>
          </a:p>
          <a:p>
            <a:r>
              <a:rPr lang="en-US" dirty="0"/>
              <a:t>The problem is formulated as a </a:t>
            </a:r>
            <a:r>
              <a:rPr lang="en-US" b="1" dirty="0" err="1"/>
              <a:t>Markover</a:t>
            </a:r>
            <a:r>
              <a:rPr lang="en-US" b="1" dirty="0"/>
              <a:t> Decision Process (MDP)</a:t>
            </a:r>
            <a:r>
              <a:rPr lang="en-US" dirty="0"/>
              <a:t> and solved using </a:t>
            </a:r>
            <a:r>
              <a:rPr lang="en-US" b="1" dirty="0"/>
              <a:t>policy iteration</a:t>
            </a:r>
            <a:r>
              <a:rPr lang="en-US" dirty="0"/>
              <a:t> to compute an optimal search strategy under uncertainty.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63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0312-1CF2-6A6B-651F-930AFAB25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B750-FD9B-0BBF-95B5-48FAC0332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897" y="1371600"/>
            <a:ext cx="6484112" cy="1097280"/>
          </a:xfrm>
        </p:spPr>
        <p:txBody>
          <a:bodyPr>
            <a:normAutofit/>
          </a:bodyPr>
          <a:lstStyle/>
          <a:p>
            <a:r>
              <a:rPr lang="en-US" dirty="0"/>
              <a:t>Test Data:</a:t>
            </a: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1E397B82-DB4A-F61C-907F-A571376E6E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65" r="11800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F6359DD-8172-54EA-0B51-98B723B07C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66836"/>
              </p:ext>
            </p:extLst>
          </p:nvPr>
        </p:nvGraphicFramePr>
        <p:xfrm>
          <a:off x="5047487" y="2664142"/>
          <a:ext cx="6484113" cy="2834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61371">
                  <a:extLst>
                    <a:ext uri="{9D8B030D-6E8A-4147-A177-3AD203B41FA5}">
                      <a16:colId xmlns:a16="http://schemas.microsoft.com/office/drawing/2014/main" val="3455197055"/>
                    </a:ext>
                  </a:extLst>
                </a:gridCol>
                <a:gridCol w="2161371">
                  <a:extLst>
                    <a:ext uri="{9D8B030D-6E8A-4147-A177-3AD203B41FA5}">
                      <a16:colId xmlns:a16="http://schemas.microsoft.com/office/drawing/2014/main" val="1332871087"/>
                    </a:ext>
                  </a:extLst>
                </a:gridCol>
                <a:gridCol w="2161371">
                  <a:extLst>
                    <a:ext uri="{9D8B030D-6E8A-4147-A177-3AD203B41FA5}">
                      <a16:colId xmlns:a16="http://schemas.microsoft.com/office/drawing/2014/main" val="4068270025"/>
                    </a:ext>
                  </a:extLst>
                </a:gridCol>
              </a:tblGrid>
              <a:tr h="250476">
                <a:tc>
                  <a:txBody>
                    <a:bodyPr/>
                    <a:lstStyle/>
                    <a:p>
                      <a:r>
                        <a:rPr lang="en-US" dirty="0"/>
                        <a:t>Room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Prior Probability (pᵢ)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Cost (cᵢ)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526035"/>
                  </a:ext>
                </a:extLst>
              </a:tr>
              <a:tr h="2504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Living 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906699"/>
                  </a:ext>
                </a:extLst>
              </a:tr>
              <a:tr h="250476">
                <a:tc>
                  <a:txBody>
                    <a:bodyPr/>
                    <a:lstStyle/>
                    <a:p>
                      <a:r>
                        <a:rPr lang="en-US" dirty="0"/>
                        <a:t>Bedroom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807289"/>
                  </a:ext>
                </a:extLst>
              </a:tr>
              <a:tr h="250476">
                <a:tc>
                  <a:txBody>
                    <a:bodyPr/>
                    <a:lstStyle/>
                    <a:p>
                      <a:r>
                        <a:rPr lang="en-US" dirty="0"/>
                        <a:t>Kitchen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857060"/>
                  </a:ext>
                </a:extLst>
              </a:tr>
              <a:tr h="250476">
                <a:tc>
                  <a:txBody>
                    <a:bodyPr/>
                    <a:lstStyle/>
                    <a:p>
                      <a:r>
                        <a:rPr lang="en-US" dirty="0"/>
                        <a:t>Office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45881"/>
                  </a:ext>
                </a:extLst>
              </a:tr>
              <a:tr h="250476">
                <a:tc>
                  <a:txBody>
                    <a:bodyPr/>
                    <a:lstStyle/>
                    <a:p>
                      <a:r>
                        <a:rPr lang="en-US" dirty="0"/>
                        <a:t>Bathroom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091593"/>
                  </a:ext>
                </a:extLst>
              </a:tr>
              <a:tr h="250476">
                <a:tc>
                  <a:txBody>
                    <a:bodyPr/>
                    <a:lstStyle/>
                    <a:p>
                      <a:r>
                        <a:rPr lang="en-US" dirty="0"/>
                        <a:t>Storage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566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43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0400-FC87-ECF9-274B-3006F0ABE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3" y="109729"/>
            <a:ext cx="11198776" cy="649224"/>
          </a:xfrm>
        </p:spPr>
        <p:txBody>
          <a:bodyPr>
            <a:normAutofit fontScale="90000"/>
          </a:bodyPr>
          <a:lstStyle/>
          <a:p>
            <a:r>
              <a:rPr lang="en-US" dirty="0"/>
              <a:t>MDP Formulation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8A8917-EC1B-6F63-9EE1-D12A11D198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760" y="685800"/>
                <a:ext cx="11494008" cy="6062472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sz="1400" b="1" dirty="0"/>
                  <a:t>State Space (S)</a:t>
                </a:r>
              </a:p>
              <a:p>
                <a:pPr>
                  <a:buNone/>
                </a:pPr>
                <a:r>
                  <a:rPr lang="en-US" sz="1400" dirty="0"/>
                  <a:t>The state represents the robot’s belief about the target’s location: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400" dirty="0"/>
              </a:p>
              <a:p>
                <a:pPr>
                  <a:buNone/>
                </a:pPr>
                <a:r>
                  <a:rPr lang="en-US" sz="1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/>
                  <a:t>is the probability that the target is in room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/>
                  <a:t>.</a:t>
                </a:r>
              </a:p>
              <a:p>
                <a:pPr>
                  <a:buNone/>
                </a:pPr>
                <a:r>
                  <a:rPr lang="en-US" sz="1400" dirty="0"/>
                  <a:t>Example initial state: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e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  <m:e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  <m:e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  <m:e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e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05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buNone/>
                </a:pPr>
                <a:endParaRPr lang="en-US" sz="1400" dirty="0"/>
              </a:p>
              <a:p>
                <a:pPr>
                  <a:buNone/>
                </a:pPr>
                <a:r>
                  <a:rPr lang="en-US" sz="1400" b="1" dirty="0"/>
                  <a:t>Action Space (A)</a:t>
                </a:r>
              </a:p>
              <a:p>
                <a:pPr>
                  <a:buNone/>
                </a:pPr>
                <a:r>
                  <a:rPr lang="en-US" sz="1400" dirty="0"/>
                  <a:t>At each decision step, the robot chooses one room to search: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Search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Living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Room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Bedroom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Kitchen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Office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Bathroom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Storage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buNone/>
                </a:pPr>
                <a:endParaRPr lang="en-US" sz="1400" dirty="0"/>
              </a:p>
              <a:p>
                <a:pPr>
                  <a:buNone/>
                </a:pPr>
                <a:r>
                  <a:rPr lang="en-US" sz="1400" b="1" dirty="0"/>
                  <a:t>Transition Model (P)</a:t>
                </a:r>
              </a:p>
              <a:p>
                <a:pPr>
                  <a:buNone/>
                </a:pPr>
                <a:r>
                  <a:rPr lang="en-US" sz="1400" dirty="0"/>
                  <a:t>If the robot searches room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/>
                  <a:t>:</a:t>
                </a:r>
              </a:p>
              <a:p>
                <a:r>
                  <a:rPr lang="en-US" sz="1400" dirty="0"/>
                  <a:t>The target is found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400" dirty="0"/>
                  <a:t>, </a:t>
                </a:r>
                <a:r>
                  <a:rPr lang="en-US" sz="1400" dirty="0"/>
                  <a:t>and the process terminates.</a:t>
                </a:r>
              </a:p>
              <a:p>
                <a:r>
                  <a:rPr lang="en-US" sz="1400" dirty="0"/>
                  <a:t>Otherwise, the belief state is updated as: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ar-AE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1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ar-AE" sz="1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ar-AE" sz="140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ar-AE" sz="140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ar-AE" sz="1400" dirty="0"/>
              </a:p>
              <a:p>
                <a:pPr>
                  <a:buNone/>
                </a:pPr>
                <a:r>
                  <a:rPr lang="en-US" sz="1400" dirty="0"/>
                  <a:t>This follows Bayesian belief updating.</a:t>
                </a:r>
              </a:p>
              <a:p>
                <a:pPr>
                  <a:buNone/>
                </a:pPr>
                <a:endParaRPr lang="ar-AE" sz="1400" dirty="0"/>
              </a:p>
              <a:p>
                <a:pPr>
                  <a:buNone/>
                </a:pPr>
                <a:endParaRPr lang="ar-AE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8A8917-EC1B-6F63-9EE1-D12A11D198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760" y="685800"/>
                <a:ext cx="11494008" cy="6062472"/>
              </a:xfrm>
              <a:blipFill>
                <a:blip r:embed="rId2"/>
                <a:stretch>
                  <a:fillRect l="-159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407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5B0A-DF50-A6C2-163A-B2A5BE51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86BC4-D19D-D982-E32F-7A9C93371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239486"/>
            <a:ext cx="6034187" cy="9370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Continue..</a:t>
            </a:r>
            <a:endParaRPr lang="en-US" sz="3400" dirty="0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57DEFE82-8FD3-0924-6B4F-AE73656F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65" r="11800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B57460-EBE2-5041-6FB9-7E19A6D7C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96821" y="1031005"/>
                <a:ext cx="6034187" cy="5587508"/>
              </a:xfrm>
            </p:spPr>
            <p:txBody>
              <a:bodyPr>
                <a:normAutofit/>
              </a:bodyPr>
              <a:lstStyle/>
              <a:p>
                <a:r>
                  <a:rPr lang="en-US" sz="1600" b="1" dirty="0"/>
                  <a:t>Reward / Cost Function (R)</a:t>
                </a:r>
              </a:p>
              <a:p>
                <a:pPr>
                  <a:buNone/>
                </a:pPr>
                <a:r>
                  <a:rPr lang="en-US" sz="1600" dirty="0"/>
                  <a:t>Each search action incurs a cost based on the room searched: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sepChr m:val=",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sz="1600" dirty="0"/>
              </a:p>
              <a:p>
                <a:pPr>
                  <a:buNone/>
                </a:pPr>
                <a:r>
                  <a:rPr lang="en-US" sz="16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is the search cost for room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>
                  <a:buNone/>
                </a:pPr>
                <a:endParaRPr lang="en-US" sz="1600" dirty="0"/>
              </a:p>
              <a:p>
                <a:pPr>
                  <a:buNone/>
                </a:pPr>
                <a:endParaRPr lang="en-US" sz="1600" dirty="0"/>
              </a:p>
              <a:p>
                <a:r>
                  <a:rPr lang="en-US" sz="1600" b="1" dirty="0"/>
                  <a:t>Discount Factor (γ)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since this is a finite, absorbing search problem.</a:t>
                </a:r>
              </a:p>
              <a:p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b="1" dirty="0"/>
                  <a:t>Terminal State</a:t>
                </a:r>
              </a:p>
              <a:p>
                <a:pPr marL="0" indent="0">
                  <a:buNone/>
                </a:pPr>
                <a:r>
                  <a:rPr lang="en-US" sz="1600" dirty="0"/>
                  <a:t>The process terminates when the target is found.</a:t>
                </a:r>
              </a:p>
              <a:p>
                <a:pPr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B57460-EBE2-5041-6FB9-7E19A6D7C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6821" y="1031005"/>
                <a:ext cx="6034187" cy="5587508"/>
              </a:xfrm>
              <a:blipFill>
                <a:blip r:embed="rId3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934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C435-EFB8-A634-BCF2-34D2C9498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50E5-B6E7-FB4F-CF31-12941C43E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239487"/>
            <a:ext cx="6034187" cy="6109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EXPERIMENTAL RESULTS </a:t>
            </a:r>
            <a:endParaRPr lang="en-US" sz="3400" dirty="0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9A8EC6B1-AE91-EE86-0581-BF72DC0B5D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65" r="11800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D0E48-0792-2175-3C59-65E568070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850393"/>
            <a:ext cx="6034187" cy="576812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/>
              <a:t>Experimental Setup</a:t>
            </a:r>
          </a:p>
          <a:p>
            <a:r>
              <a:rPr lang="en-US" sz="1600" b="1" dirty="0"/>
              <a:t>Number of rooms: 6</a:t>
            </a:r>
          </a:p>
          <a:p>
            <a:r>
              <a:rPr lang="en-US" sz="1600" b="1" dirty="0"/>
              <a:t>Belief discretization step size: 0.1</a:t>
            </a:r>
          </a:p>
          <a:p>
            <a:r>
              <a:rPr lang="en-US" sz="1600" b="1" dirty="0"/>
              <a:t>Total belief states: 3003</a:t>
            </a:r>
          </a:p>
          <a:p>
            <a:r>
              <a:rPr lang="en-US" sz="1600" b="1" dirty="0"/>
              <a:t>Discount factor: γ = 1</a:t>
            </a:r>
          </a:p>
          <a:p>
            <a:r>
              <a:rPr lang="en-US" sz="1600" b="1" dirty="0"/>
              <a:t>Solution method: Policy Iteration</a:t>
            </a:r>
          </a:p>
          <a:p>
            <a:pPr marL="0" indent="0">
              <a:buNone/>
            </a:pPr>
            <a:r>
              <a:rPr lang="en-US" sz="1800" b="1" dirty="0"/>
              <a:t>Policy Iteration Convergence</a:t>
            </a:r>
          </a:p>
          <a:p>
            <a:r>
              <a:rPr lang="en-US" sz="1600" b="1" dirty="0"/>
              <a:t>Iteration 1: 2525 belief states updated</a:t>
            </a:r>
          </a:p>
          <a:p>
            <a:r>
              <a:rPr lang="en-US" sz="1600" b="1" dirty="0"/>
              <a:t>Iteration 2: 0 policy changes</a:t>
            </a:r>
          </a:p>
          <a:p>
            <a:r>
              <a:rPr lang="en-US" sz="1600" b="1" dirty="0"/>
              <a:t>Result: Policy converged in 2 iterations</a:t>
            </a:r>
          </a:p>
          <a:p>
            <a:pPr marL="0" indent="0">
              <a:buNone/>
            </a:pPr>
            <a:r>
              <a:rPr lang="en-US" sz="1600" b="1" dirty="0"/>
              <a:t>This indicates fast and stable convergence due to the finite belief space.</a:t>
            </a:r>
          </a:p>
          <a:p>
            <a:pPr marL="0" indent="0">
              <a:buNone/>
            </a:pPr>
            <a:r>
              <a:rPr lang="en-US" sz="1600" b="1" dirty="0"/>
              <a:t>Optimal Policy Results</a:t>
            </a:r>
          </a:p>
          <a:p>
            <a:r>
              <a:rPr lang="en-US" sz="1600" b="1" dirty="0"/>
              <a:t>Optimal first room to search: Storage</a:t>
            </a:r>
          </a:p>
          <a:p>
            <a:r>
              <a:rPr lang="en-US" sz="1600" b="1" dirty="0"/>
              <a:t>Expected total search cost: 1.0</a:t>
            </a:r>
          </a:p>
          <a:p>
            <a:pPr marL="0" indent="0">
              <a:buNone/>
            </a:pPr>
            <a:r>
              <a:rPr lang="en-US" sz="1600" b="1" dirty="0"/>
              <a:t>Despite having a lower probability, Storage is searched first due to its minimal search cost.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344879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74A02-D04D-B766-3017-9D908DB3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A1AFF-35B8-7E74-8B8B-AE1849AE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" y="301752"/>
            <a:ext cx="4323634" cy="1298448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EXPERIMENTAL RESULTS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30C6137-1326-42B2-91E9-330C3BC40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23862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C74DC-AE8B-7C48-683E-F492CED8F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75" y="914400"/>
            <a:ext cx="6206534" cy="3324226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/>
              <a:t>Optimal Search Sequence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Storage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Kitchen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Bathroom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Living Room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Office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Bedroom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/>
              <a:t>The policy prioritizes </a:t>
            </a:r>
            <a:r>
              <a:rPr lang="en-US" sz="1400" b="1" dirty="0"/>
              <a:t>low-cost rooms first</a:t>
            </a:r>
            <a:r>
              <a:rPr lang="en-US" sz="1400" dirty="0"/>
              <a:t>, minimizing total expected cost.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B19778-8C03-C672-7F87-6366D6359D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964" b="1"/>
          <a:stretch>
            <a:fillRect/>
          </a:stretch>
        </p:blipFill>
        <p:spPr>
          <a:xfrm>
            <a:off x="4857494" y="4238625"/>
            <a:ext cx="3409800" cy="22054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3A519E-F8FC-91A4-AF3C-88CFEBC323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962" b="1"/>
          <a:stretch>
            <a:fillRect/>
          </a:stretch>
        </p:blipFill>
        <p:spPr>
          <a:xfrm>
            <a:off x="8487222" y="4160141"/>
            <a:ext cx="3609509" cy="22839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878CE9-2D51-5424-19E3-3F33B72A9C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244" b="-1"/>
          <a:stretch>
            <a:fillRect/>
          </a:stretch>
        </p:blipFill>
        <p:spPr>
          <a:xfrm>
            <a:off x="179832" y="1632363"/>
            <a:ext cx="3170135" cy="19740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D91D380-CC85-2BAA-F93F-F54D1617C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20" y="3963643"/>
            <a:ext cx="4527486" cy="248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1423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422</Words>
  <Application>Microsoft Office PowerPoint</Application>
  <PresentationFormat>Widescreen</PresentationFormat>
  <Paragraphs>86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Grandview Display</vt:lpstr>
      <vt:lpstr>DashVTI</vt:lpstr>
      <vt:lpstr>Self-Improving-AI-Week_01</vt:lpstr>
      <vt:lpstr>Robot Room Search Using Markov Decision Processes</vt:lpstr>
      <vt:lpstr>Test Data:</vt:lpstr>
      <vt:lpstr>MDP Formulation </vt:lpstr>
      <vt:lpstr>Continue..</vt:lpstr>
      <vt:lpstr>EXPERIMENTAL RESULTS </vt:lpstr>
      <vt:lpstr>EXPERIMENTAL RESULTS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Srinjana Nag</dc:creator>
  <cp:lastModifiedBy>Srinjana Nag</cp:lastModifiedBy>
  <cp:revision>2</cp:revision>
  <dcterms:created xsi:type="dcterms:W3CDTF">2026-02-02T00:49:35Z</dcterms:created>
  <dcterms:modified xsi:type="dcterms:W3CDTF">2026-02-02T02:07:00Z</dcterms:modified>
</cp:coreProperties>
</file>